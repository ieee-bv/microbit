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5f3f96f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5f3f96f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9cfa749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9cfa749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7d5853f914ccd07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7d5853f914ccd07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9fa940ede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9fa940ed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fa940ede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fa940ede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41bcd43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41bcd43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41bcd439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f41bcd439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30a5969e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b30a5969e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b30a5969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b30a5969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fa940ede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fa940ede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8acfec02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8acfec02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c89bfe9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0c89bfe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0c89bfe95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0c89bfe9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b8acfec0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b8acfec0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46a604d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446a604d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a3014a3f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a3014a3f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467c3696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467c3696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microbit-micropython.readthedocs.io/en/v1.0.1/index.html" TargetMode="External"/><Relationship Id="rId4" Type="http://schemas.openxmlformats.org/officeDocument/2006/relationships/hyperlink" Target="https://codewith.mu/en/download" TargetMode="External"/><Relationship Id="rId9" Type="http://schemas.openxmlformats.org/officeDocument/2006/relationships/hyperlink" Target="http://www.sparkfun.com" TargetMode="External"/><Relationship Id="rId5" Type="http://schemas.openxmlformats.org/officeDocument/2006/relationships/hyperlink" Target="https://www.w3schools.com/python/default.asp" TargetMode="External"/><Relationship Id="rId6" Type="http://schemas.openxmlformats.org/officeDocument/2006/relationships/hyperlink" Target="https://www.python.org/" TargetMode="External"/><Relationship Id="rId7" Type="http://schemas.openxmlformats.org/officeDocument/2006/relationships/hyperlink" Target="https://wiki.python.org/moin/BeginnersGuide" TargetMode="External"/><Relationship Id="rId8" Type="http://schemas.openxmlformats.org/officeDocument/2006/relationships/hyperlink" Target="http://www.adafrui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689075"/>
            <a:ext cx="82854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BBC micro:bit v2 - Using the REPL</a:t>
            </a:r>
            <a:endParaRPr sz="39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Steve Case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</a:t>
            </a:r>
            <a:r>
              <a:rPr lang="en"/>
              <a:t> v2 Development Board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10112" t="0"/>
          <a:stretch/>
        </p:blipFill>
        <p:spPr>
          <a:xfrm>
            <a:off x="1854137" y="791725"/>
            <a:ext cx="4757576" cy="417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</a:t>
            </a:r>
            <a:r>
              <a:rPr lang="en" sz="2900"/>
              <a:t>Mu</a:t>
            </a:r>
            <a:r>
              <a:rPr lang="en"/>
              <a:t> </a:t>
            </a:r>
            <a:r>
              <a:rPr lang="en" sz="2900"/>
              <a:t>Python Editor</a:t>
            </a:r>
            <a:endParaRPr sz="2900"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4607" l="947" r="2407" t="0"/>
          <a:stretch/>
        </p:blipFill>
        <p:spPr>
          <a:xfrm>
            <a:off x="1248225" y="712550"/>
            <a:ext cx="6370174" cy="393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REPL pronounced “rep-l” stands for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EVALUATE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The REPL is used to communicate like a command-line to the Python interpreter.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We use it as a short-cut to test code pieces quickly before we start writing a program.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 Editor</a:t>
            </a:r>
            <a:r>
              <a:rPr lang="en"/>
              <a:t> 						</a:t>
            </a:r>
            <a:r>
              <a:rPr lang="en" sz="2900"/>
              <a:t>REPL Access</a:t>
            </a:r>
            <a:endParaRPr sz="2900"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4607" l="947" r="2407" t="0"/>
          <a:stretch/>
        </p:blipFill>
        <p:spPr>
          <a:xfrm>
            <a:off x="1248225" y="712550"/>
            <a:ext cx="6370174" cy="3935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7"/>
          <p:cNvCxnSpPr/>
          <p:nvPr/>
        </p:nvCxnSpPr>
        <p:spPr>
          <a:xfrm flipH="1">
            <a:off x="4116875" y="686500"/>
            <a:ext cx="868200" cy="4659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</a:t>
            </a:r>
            <a:r>
              <a:rPr lang="en" sz="2900"/>
              <a:t>REPL is here &gt;&gt;&gt;</a:t>
            </a:r>
            <a:endParaRPr sz="2900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800" y="728575"/>
            <a:ext cx="7065250" cy="4211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 flipH="1">
            <a:off x="1732250" y="712350"/>
            <a:ext cx="4804500" cy="29103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</a:t>
            </a:r>
            <a:r>
              <a:rPr lang="en" sz="2900"/>
              <a:t>FLASH Program</a:t>
            </a:r>
            <a:endParaRPr sz="290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525" y="760425"/>
            <a:ext cx="7556950" cy="423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9"/>
          <p:cNvCxnSpPr/>
          <p:nvPr/>
        </p:nvCxnSpPr>
        <p:spPr>
          <a:xfrm flipH="1">
            <a:off x="2830625" y="506950"/>
            <a:ext cx="2798700" cy="665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Get ready to </a:t>
            </a:r>
            <a:r>
              <a:rPr lang="en" sz="2900"/>
              <a:t>FLASH </a:t>
            </a:r>
            <a:endParaRPr sz="290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625" y="1552575"/>
            <a:ext cx="21621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title"/>
          </p:nvPr>
        </p:nvSpPr>
        <p:spPr>
          <a:xfrm>
            <a:off x="147900" y="31318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buttons should be yellow.</a:t>
            </a:r>
            <a:r>
              <a:rPr lang="en" sz="2900"/>
              <a:t> </a:t>
            </a:r>
            <a:endParaRPr sz="2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 help()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Welcome to MicroPython on the micro:bit!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Try these commands: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display.scroll('Hello')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running_time()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sleep(1000)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button_a.is_pressed()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What do these commands do? Can you improve them? HINT: use the up and down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arrow keys to get your command history. Press the TAB key to auto-complete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unfinished words (so 'di' becomes 'display' after you press TAB). These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tricks save a lot of typing and look cool!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0" y="5244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Explore: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Type 'help(something)' to find out about it. Type 'dir(something)' to see what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it can do. Type 'dir()' to see what stuff is available. For goodness sake,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don't type 'import this'.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Control commands: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CTRL-C        -- stop a running program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CTRL-D        -- on a blank line, do a soft reset of the micro:bit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CTRL-E        -- enter paste mode, turning off auto-indent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For a list of available modules, type help('modules')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For more information about Python, visit: http://python.org/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To find out about MicroPython, visit: http://micropython.org/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Python/micro:bit documentation is here: https://microbit-micropython.readthedocs.io/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in the REPL- Variables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209500" y="723500"/>
            <a:ext cx="83112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print(i)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j = 2.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print(j)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name = “Coco”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print(name)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Coco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25" name="Google Shape;125;p23"/>
          <p:cNvCxnSpPr/>
          <p:nvPr/>
        </p:nvCxnSpPr>
        <p:spPr>
          <a:xfrm rot="10800000">
            <a:off x="3655850" y="109757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3"/>
          <p:cNvSpPr txBox="1"/>
          <p:nvPr/>
        </p:nvSpPr>
        <p:spPr>
          <a:xfrm>
            <a:off x="4428575" y="8766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i is an integer. Think of </a:t>
            </a:r>
            <a:r>
              <a:rPr b="1" lang="en">
                <a:solidFill>
                  <a:srgbClr val="134F5C"/>
                </a:solidFill>
              </a:rPr>
              <a:t>integers</a:t>
            </a:r>
            <a:r>
              <a:rPr b="1" lang="en">
                <a:solidFill>
                  <a:srgbClr val="134F5C"/>
                </a:solidFill>
              </a:rPr>
              <a:t> as counting numbers.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2775" y="629575"/>
            <a:ext cx="35589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23"/>
          <p:cNvCxnSpPr/>
          <p:nvPr/>
        </p:nvCxnSpPr>
        <p:spPr>
          <a:xfrm rot="10800000">
            <a:off x="3655838" y="21537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3"/>
          <p:cNvSpPr txBox="1"/>
          <p:nvPr/>
        </p:nvSpPr>
        <p:spPr>
          <a:xfrm>
            <a:off x="4431338" y="18255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j is an floating point number. Think of it as a number with a fractional part.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-12" y="1735600"/>
            <a:ext cx="35616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23"/>
          <p:cNvCxnSpPr/>
          <p:nvPr/>
        </p:nvCxnSpPr>
        <p:spPr>
          <a:xfrm rot="10800000">
            <a:off x="3703488" y="3427000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23"/>
          <p:cNvSpPr txBox="1"/>
          <p:nvPr/>
        </p:nvSpPr>
        <p:spPr>
          <a:xfrm>
            <a:off x="4478988" y="3098800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name is a string of collected characters.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47638" y="3008875"/>
            <a:ext cx="35616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in the REPL- Libraries</a:t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200" y="696600"/>
            <a:ext cx="3301574" cy="33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 rot="-1459944">
            <a:off x="6402738" y="2197131"/>
            <a:ext cx="1759824" cy="4616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LED’s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398075" y="1016125"/>
            <a:ext cx="4232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Libraries are collections of programs written by others, that make things easier to duplicate.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A library can hold either one or many routines that we call by name inside them.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When we want to use a library, we need to “check it out” and bring it into our program.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 rot="-5400000">
            <a:off x="4924625" y="2401524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Buttons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 rot="-5400000">
            <a:off x="4462925" y="1998724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in the REPL- Libraries</a:t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86050"/>
            <a:ext cx="3301574" cy="33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 rot="-5400000">
            <a:off x="5135412" y="2340889"/>
            <a:ext cx="175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microbit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398075" y="101612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from microbit import *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 rot="-5400000">
            <a:off x="4856721" y="2277530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speach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 rot="-5400000">
            <a:off x="4462925" y="1998724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music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 rot="-586">
            <a:off x="6317524" y="2402638"/>
            <a:ext cx="175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398075" y="205117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import microbit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microbit.display.scroll(“Hi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398075" y="308622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from microbit import display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microbit.display.scroll(“Hi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Happening?</a:t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398075" y="101612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from microbit import *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398075" y="205117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import microbit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microbit.display.scroll(“Hi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398075" y="3086225"/>
            <a:ext cx="423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Find out what’s inside of a library.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dir()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import music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dir(music)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5048450" y="809925"/>
            <a:ext cx="2714400" cy="3221400"/>
          </a:xfrm>
          <a:prstGeom prst="bevel">
            <a:avLst>
              <a:gd fmla="val 233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5312475" y="1755025"/>
            <a:ext cx="802800" cy="86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</a:t>
            </a:r>
            <a:endParaRPr/>
          </a:p>
        </p:txBody>
      </p:sp>
      <p:sp>
        <p:nvSpPr>
          <p:cNvPr id="167" name="Google Shape;167;p26"/>
          <p:cNvSpPr/>
          <p:nvPr/>
        </p:nvSpPr>
        <p:spPr>
          <a:xfrm>
            <a:off x="6263025" y="1016125"/>
            <a:ext cx="1293000" cy="141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(random)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(microbit)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(music)</a:t>
            </a:r>
            <a:endParaRPr/>
          </a:p>
        </p:txBody>
      </p:sp>
      <p:sp>
        <p:nvSpPr>
          <p:cNvPr id="168" name="Google Shape;168;p26"/>
          <p:cNvSpPr/>
          <p:nvPr/>
        </p:nvSpPr>
        <p:spPr>
          <a:xfrm>
            <a:off x="5312475" y="2862200"/>
            <a:ext cx="802800" cy="7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</a:t>
            </a:r>
            <a:endParaRPr/>
          </a:p>
        </p:txBody>
      </p:sp>
      <p:cxnSp>
        <p:nvCxnSpPr>
          <p:cNvPr id="169" name="Google Shape;169;p26"/>
          <p:cNvCxnSpPr/>
          <p:nvPr/>
        </p:nvCxnSpPr>
        <p:spPr>
          <a:xfrm flipH="1">
            <a:off x="6005575" y="2313000"/>
            <a:ext cx="658800" cy="966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in the REPL- Libraries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209500" y="723500"/>
            <a:ext cx="83112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print(i)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j = 2.5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print(j)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2.5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dir()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print(name)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j = 2.5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a = 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print(a)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6" name="Google Shape;176;p27"/>
          <p:cNvCxnSpPr/>
          <p:nvPr/>
        </p:nvCxnSpPr>
        <p:spPr>
          <a:xfrm rot="10800000">
            <a:off x="3655850" y="109757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7"/>
          <p:cNvSpPr txBox="1"/>
          <p:nvPr/>
        </p:nvSpPr>
        <p:spPr>
          <a:xfrm>
            <a:off x="4428575" y="8766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i is an integer. Think of integers as counting numbers.</a:t>
            </a:r>
            <a:endParaRPr b="1">
              <a:solidFill>
                <a:srgbClr val="134F5C"/>
              </a:solidFill>
            </a:endParaRPr>
          </a:p>
        </p:txBody>
      </p:sp>
      <p:cxnSp>
        <p:nvCxnSpPr>
          <p:cNvPr id="178" name="Google Shape;178;p27"/>
          <p:cNvCxnSpPr/>
          <p:nvPr/>
        </p:nvCxnSpPr>
        <p:spPr>
          <a:xfrm rot="10800000">
            <a:off x="3655838" y="21537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7"/>
          <p:cNvSpPr txBox="1"/>
          <p:nvPr/>
        </p:nvSpPr>
        <p:spPr>
          <a:xfrm>
            <a:off x="4431338" y="18255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j is an floating point number. Think of it as a number with a fractional part.</a:t>
            </a:r>
            <a:endParaRPr b="1">
              <a:solidFill>
                <a:srgbClr val="134F5C"/>
              </a:solidFill>
            </a:endParaRPr>
          </a:p>
        </p:txBody>
      </p:sp>
      <p:cxnSp>
        <p:nvCxnSpPr>
          <p:cNvPr id="180" name="Google Shape;180;p27"/>
          <p:cNvCxnSpPr/>
          <p:nvPr/>
        </p:nvCxnSpPr>
        <p:spPr>
          <a:xfrm rot="10800000">
            <a:off x="3703488" y="3427000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7"/>
          <p:cNvSpPr txBox="1"/>
          <p:nvPr/>
        </p:nvSpPr>
        <p:spPr>
          <a:xfrm>
            <a:off x="4478988" y="3098800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name is a string of collected characters.</a:t>
            </a:r>
            <a:endParaRPr b="1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bbc:microbit python programs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For-Loop 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s.case 10/26/20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Bring in the libraries that you need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Execute loop 5 times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for i in range(5):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display.show(Image.HAPPY)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display.clear()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8" name="Google Shape;188;p28"/>
          <p:cNvCxnSpPr/>
          <p:nvPr/>
        </p:nvCxnSpPr>
        <p:spPr>
          <a:xfrm rot="10800000">
            <a:off x="6568050" y="1146900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28"/>
          <p:cNvSpPr/>
          <p:nvPr/>
        </p:nvSpPr>
        <p:spPr>
          <a:xfrm>
            <a:off x="0" y="735850"/>
            <a:ext cx="6391500" cy="9489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 txBox="1"/>
          <p:nvPr/>
        </p:nvSpPr>
        <p:spPr>
          <a:xfrm>
            <a:off x="7215075" y="976800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Comments 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62850" y="2000000"/>
            <a:ext cx="6492600" cy="7905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8"/>
          <p:cNvCxnSpPr/>
          <p:nvPr/>
        </p:nvCxnSpPr>
        <p:spPr>
          <a:xfrm rot="10800000">
            <a:off x="6839100" y="2465388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8"/>
          <p:cNvSpPr txBox="1"/>
          <p:nvPr/>
        </p:nvSpPr>
        <p:spPr>
          <a:xfrm>
            <a:off x="7507250" y="2295288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Libraries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0" y="2870300"/>
            <a:ext cx="6732000" cy="18744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28"/>
          <p:cNvCxnSpPr/>
          <p:nvPr/>
        </p:nvCxnSpPr>
        <p:spPr>
          <a:xfrm rot="10800000">
            <a:off x="6845400" y="35568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8"/>
          <p:cNvSpPr txBox="1"/>
          <p:nvPr/>
        </p:nvSpPr>
        <p:spPr>
          <a:xfrm>
            <a:off x="7551400" y="3386725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Running program</a:t>
            </a:r>
            <a:endParaRPr b="1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 Editor for Python</a:t>
            </a:r>
            <a:endParaRPr/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75" y="572700"/>
            <a:ext cx="7322956" cy="426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9"/>
          <p:cNvCxnSpPr/>
          <p:nvPr/>
        </p:nvCxnSpPr>
        <p:spPr>
          <a:xfrm flipH="1">
            <a:off x="3854800" y="1634175"/>
            <a:ext cx="3949500" cy="2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9"/>
          <p:cNvSpPr txBox="1"/>
          <p:nvPr/>
        </p:nvSpPr>
        <p:spPr>
          <a:xfrm>
            <a:off x="7927425" y="1437700"/>
            <a:ext cx="10599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Programs on tabs</a:t>
            </a:r>
            <a:r>
              <a:rPr b="1" lang="en">
                <a:solidFill>
                  <a:srgbClr val="134F5C"/>
                </a:solidFill>
              </a:rPr>
              <a:t> </a:t>
            </a:r>
            <a:endParaRPr b="1">
              <a:solidFill>
                <a:srgbClr val="134F5C"/>
              </a:solidFill>
            </a:endParaRPr>
          </a:p>
        </p:txBody>
      </p:sp>
      <p:cxnSp>
        <p:nvCxnSpPr>
          <p:cNvPr id="205" name="Google Shape;205;p29"/>
          <p:cNvCxnSpPr/>
          <p:nvPr/>
        </p:nvCxnSpPr>
        <p:spPr>
          <a:xfrm flipH="1">
            <a:off x="6117575" y="353175"/>
            <a:ext cx="1378200" cy="705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9"/>
          <p:cNvSpPr txBox="1"/>
          <p:nvPr/>
        </p:nvSpPr>
        <p:spPr>
          <a:xfrm>
            <a:off x="7550300" y="170175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Controls</a:t>
            </a:r>
            <a:r>
              <a:rPr b="1" lang="en">
                <a:solidFill>
                  <a:srgbClr val="134F5C"/>
                </a:solidFill>
              </a:rPr>
              <a:t> </a:t>
            </a:r>
            <a:endParaRPr b="1">
              <a:solidFill>
                <a:srgbClr val="134F5C"/>
              </a:solidFill>
            </a:endParaRPr>
          </a:p>
        </p:txBody>
      </p:sp>
      <p:cxnSp>
        <p:nvCxnSpPr>
          <p:cNvPr id="207" name="Google Shape;207;p29"/>
          <p:cNvCxnSpPr/>
          <p:nvPr/>
        </p:nvCxnSpPr>
        <p:spPr>
          <a:xfrm rot="10800000">
            <a:off x="6903275" y="29696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9"/>
          <p:cNvSpPr txBox="1"/>
          <p:nvPr/>
        </p:nvSpPr>
        <p:spPr>
          <a:xfrm>
            <a:off x="7550300" y="2799525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Editing area </a:t>
            </a:r>
            <a:endParaRPr b="1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Material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0" y="618716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Micropython Reference for the micro:bit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https://microbit-micropython.readthedocs.io/en/v1.0.1/index.html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Mu-Editor Installation: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https://codewith.mu/en/download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Seminar Slides: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Python 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Language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https://www.w3schools.com/python/default.asp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https://www.python.org/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(advanced full reference for Python)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https://wiki.python.org/moin/BeginnersGuide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(still pretty advanced)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Electronics Basics Vendors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Adafruit Industries: </a:t>
            </a:r>
            <a:r>
              <a:rPr b="1" lang="en" sz="14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www.adafruit.com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Sparkfun electronics: </a:t>
            </a:r>
            <a:r>
              <a:rPr b="1" lang="en" sz="14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www.sparkfun.com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