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7" Type="http://schemas.openxmlformats.org/officeDocument/2006/relationships/font" Target="fonts/ProximaNova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95f3f96f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95f3f96f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d07ce15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d07ce15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editor that we suggest students use for editing their work. It has syntax checking and code-completion to make things a bit easier.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online work in groups, we’ll use the bbc:microbit editor.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9fa940ede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9fa940ede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editor that we suggest students use for editing their work. It has syntax checking and code-completion to make things a bit easier.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online work in groups, we’ll use the bbc:microbit editor.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9cfa74970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9cfa7497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editor that we suggest students use for editing their work. It has syntax checking and code-completion to make things a bit easier.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online work in groups, we’ll use the bbc:microbit editor.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d5853f914ccd07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d5853f914ccd07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b30a5969e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b30a5969e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b30a5969e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b30a5969e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9fa940ede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9fa940ede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b8acfec02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b8acfec02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0c89bfe9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0c89bfe9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d07ce15c2_0_1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d07ce15c2_0_1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dd07ce15c2_0_12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d07ce15c2_0_21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d07ce15c2_0_21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dd07ce15c2_0_21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0c89bfe95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0c89bfe95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46a604d9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446a604d9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a3014a3f6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a3014a3f6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3c6ab39dd_0_52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d3c6ab39dd_0_52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>
  <p:cSld name="BLANK_1">
    <p:bg>
      <p:bgPr>
        <a:solidFill>
          <a:schemeClr val="dk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3"/>
          <p:cNvCxnSpPr/>
          <p:nvPr/>
        </p:nvCxnSpPr>
        <p:spPr>
          <a:xfrm>
            <a:off x="0" y="2998080"/>
            <a:ext cx="9144300" cy="300"/>
          </a:xfrm>
          <a:prstGeom prst="straightConnector1">
            <a:avLst/>
          </a:prstGeom>
          <a:noFill/>
          <a:ln cap="flat" cmpd="sng" w="19050">
            <a:solidFill>
              <a:srgbClr val="63D29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13"/>
          <p:cNvSpPr txBox="1"/>
          <p:nvPr>
            <p:ph type="title"/>
          </p:nvPr>
        </p:nvSpPr>
        <p:spPr>
          <a:xfrm>
            <a:off x="510480" y="2057400"/>
            <a:ext cx="81228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457200" y="120348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16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16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16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16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16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16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160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1600"/>
              </a:spcBef>
              <a:spcAft>
                <a:spcPts val="160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dk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5"/>
          <p:cNvCxnSpPr/>
          <p:nvPr/>
        </p:nvCxnSpPr>
        <p:spPr>
          <a:xfrm>
            <a:off x="0" y="2998080"/>
            <a:ext cx="9144300" cy="300"/>
          </a:xfrm>
          <a:prstGeom prst="straightConnector1">
            <a:avLst/>
          </a:prstGeom>
          <a:noFill/>
          <a:ln cap="flat" cmpd="sng" w="19050">
            <a:solidFill>
              <a:srgbClr val="63D29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5"/>
          <p:cNvSpPr txBox="1"/>
          <p:nvPr>
            <p:ph type="title"/>
          </p:nvPr>
        </p:nvSpPr>
        <p:spPr>
          <a:xfrm>
            <a:off x="510480" y="1257480"/>
            <a:ext cx="8122800" cy="158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457200" y="120348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blank">
  <p:cSld name="BLANK"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Google Shape;67;p16"/>
          <p:cNvCxnSpPr/>
          <p:nvPr/>
        </p:nvCxnSpPr>
        <p:spPr>
          <a:xfrm>
            <a:off x="0" y="2998080"/>
            <a:ext cx="9144300" cy="300"/>
          </a:xfrm>
          <a:prstGeom prst="straightConnector1">
            <a:avLst/>
          </a:prstGeom>
          <a:noFill/>
          <a:ln cap="flat" cmpd="sng" w="19050">
            <a:solidFill>
              <a:srgbClr val="63D29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16"/>
          <p:cNvSpPr txBox="1"/>
          <p:nvPr>
            <p:ph type="title"/>
          </p:nvPr>
        </p:nvSpPr>
        <p:spPr>
          <a:xfrm>
            <a:off x="510480" y="2057400"/>
            <a:ext cx="8122800" cy="778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457200" y="120348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0" y="5045760"/>
            <a:ext cx="9143700" cy="9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950" lIns="91425" spcFirstLastPara="1" rIns="91425" wrap="square" tIns="48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7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_NUMBER">
  <p:cSld name="BIG_NUMBER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>
            <a:off x="0" y="5045760"/>
            <a:ext cx="9143700" cy="9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950" lIns="91425" spcFirstLastPara="1" rIns="91425" wrap="square" tIns="48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8"/>
          <p:cNvSpPr txBox="1"/>
          <p:nvPr>
            <p:ph hasCustomPrompt="1" type="title"/>
          </p:nvPr>
        </p:nvSpPr>
        <p:spPr>
          <a:xfrm>
            <a:off x="311760" y="991440"/>
            <a:ext cx="8520000" cy="191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>
            <a:r>
              <a:t>xx%</a:t>
            </a:r>
          </a:p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311760" y="3071160"/>
            <a:ext cx="8520000" cy="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TWO_COLUMNS" type="twoObj">
  <p:cSld name="TWO_OBJECTS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5" name="Google Shape;85;p20"/>
          <p:cNvSpPr txBox="1"/>
          <p:nvPr>
            <p:ph idx="1" type="body"/>
          </p:nvPr>
        </p:nvSpPr>
        <p:spPr>
          <a:xfrm>
            <a:off x="311760" y="1152360"/>
            <a:ext cx="39996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6" name="Google Shape;86;p20"/>
          <p:cNvSpPr txBox="1"/>
          <p:nvPr>
            <p:ph idx="2" type="body"/>
          </p:nvPr>
        </p:nvSpPr>
        <p:spPr>
          <a:xfrm>
            <a:off x="4832280" y="1152360"/>
            <a:ext cx="39996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7" name="Google Shape;87;p20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_COLUMN_TEXT">
  <p:cSld name="ONE_COLUMN_TEXT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311760" y="555480"/>
            <a:ext cx="28077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3" name="Google Shape;93;p22"/>
          <p:cNvSpPr txBox="1"/>
          <p:nvPr>
            <p:ph idx="1" type="body"/>
          </p:nvPr>
        </p:nvSpPr>
        <p:spPr>
          <a:xfrm>
            <a:off x="311760" y="1389600"/>
            <a:ext cx="2807700" cy="3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4" name="Google Shape;94;p22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_POINT">
  <p:cSld name="MAIN_POINT">
    <p:bg>
      <p:bgPr>
        <a:solidFill>
          <a:schemeClr val="lt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3"/>
          <p:cNvSpPr txBox="1"/>
          <p:nvPr>
            <p:ph type="title"/>
          </p:nvPr>
        </p:nvSpPr>
        <p:spPr>
          <a:xfrm>
            <a:off x="490320" y="526320"/>
            <a:ext cx="5797200" cy="40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">
  <p:cSld name="SECTION_TITLE_AND_DESCRIPTION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/>
          <p:nvPr/>
        </p:nvSpPr>
        <p:spPr>
          <a:xfrm>
            <a:off x="4572000" y="0"/>
            <a:ext cx="4571700" cy="5143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24"/>
          <p:cNvCxnSpPr/>
          <p:nvPr/>
        </p:nvCxnSpPr>
        <p:spPr>
          <a:xfrm>
            <a:off x="5029560" y="4495320"/>
            <a:ext cx="468600" cy="300"/>
          </a:xfrm>
          <a:prstGeom prst="straightConnector1">
            <a:avLst/>
          </a:prstGeom>
          <a:noFill/>
          <a:ln cap="flat" cmpd="sng" w="19050">
            <a:solidFill>
              <a:srgbClr val="63D29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24"/>
          <p:cNvSpPr txBox="1"/>
          <p:nvPr>
            <p:ph type="title"/>
          </p:nvPr>
        </p:nvSpPr>
        <p:spPr>
          <a:xfrm>
            <a:off x="265680" y="1206000"/>
            <a:ext cx="4044900" cy="15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2" name="Google Shape;102;p24"/>
          <p:cNvSpPr txBox="1"/>
          <p:nvPr>
            <p:ph idx="1" type="body"/>
          </p:nvPr>
        </p:nvSpPr>
        <p:spPr>
          <a:xfrm>
            <a:off x="4939560" y="724320"/>
            <a:ext cx="3836400" cy="36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3" name="Google Shape;103;p24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sz="100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sz="100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sz="100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sz="100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sz="100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sz="100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sz="100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sz="100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lt1"/>
              </a:buClr>
              <a:buSzPts val="1000"/>
              <a:buFont typeface="Proxima Nova"/>
              <a:buNone/>
              <a:defRPr b="0" sz="1000" u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_ONLY">
  <p:cSld name="CAPTION_ONLY"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311760" y="4236840"/>
            <a:ext cx="59982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</a:lstStyle>
          <a:p/>
        </p:txBody>
      </p:sp>
      <p:sp>
        <p:nvSpPr>
          <p:cNvPr id="106" name="Google Shape;106;p25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Proxima Nova"/>
              <a:buNone/>
              <a:defRPr b="0" sz="10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hyperlink" Target="http://www.sparkfun.com" TargetMode="External"/><Relationship Id="rId10" Type="http://schemas.openxmlformats.org/officeDocument/2006/relationships/hyperlink" Target="http://www.adafruit.com" TargetMode="External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www.microbit.org" TargetMode="External"/><Relationship Id="rId4" Type="http://schemas.openxmlformats.org/officeDocument/2006/relationships/hyperlink" Target="https://github.com/IEEE-BV/microbit" TargetMode="External"/><Relationship Id="rId9" Type="http://schemas.openxmlformats.org/officeDocument/2006/relationships/hyperlink" Target="https://wiki.python.org/moin/BeginnersGuide" TargetMode="External"/><Relationship Id="rId5" Type="http://schemas.openxmlformats.org/officeDocument/2006/relationships/hyperlink" Target="https://thonny.org/" TargetMode="External"/><Relationship Id="rId6" Type="http://schemas.openxmlformats.org/officeDocument/2006/relationships/hyperlink" Target="https://microbit-micropython.readthedocs.io/en/v2-docs/#" TargetMode="External"/><Relationship Id="rId7" Type="http://schemas.openxmlformats.org/officeDocument/2006/relationships/hyperlink" Target="https://www.w3schools.com/python/default.asp" TargetMode="External"/><Relationship Id="rId8" Type="http://schemas.openxmlformats.org/officeDocument/2006/relationships/hyperlink" Target="https://www.python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/>
          <p:nvPr>
            <p:ph type="ctrTitle"/>
          </p:nvPr>
        </p:nvSpPr>
        <p:spPr>
          <a:xfrm>
            <a:off x="311700" y="689075"/>
            <a:ext cx="82854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BBC micro:bit  - Using the REPL</a:t>
            </a:r>
            <a:endParaRPr sz="3900"/>
          </a:p>
        </p:txBody>
      </p:sp>
      <p:sp>
        <p:nvSpPr>
          <p:cNvPr id="112" name="Google Shape;112;p26"/>
          <p:cNvSpPr txBox="1"/>
          <p:nvPr>
            <p:ph idx="1" type="subTitle"/>
          </p:nvPr>
        </p:nvSpPr>
        <p:spPr>
          <a:xfrm>
            <a:off x="474000" y="4083538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Steve Case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171375" y="132351"/>
            <a:ext cx="81231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</a:t>
            </a:r>
            <a:r>
              <a:rPr lang="en"/>
              <a:t> v2 Development Board</a:t>
            </a:r>
            <a:endParaRPr/>
          </a:p>
        </p:txBody>
      </p:sp>
      <p:pic>
        <p:nvPicPr>
          <p:cNvPr id="118" name="Google Shape;118;p27"/>
          <p:cNvPicPr preferRelativeResize="0"/>
          <p:nvPr/>
        </p:nvPicPr>
        <p:blipFill rotWithShape="1">
          <a:blip r:embed="rId3">
            <a:alphaModFix/>
          </a:blip>
          <a:srcRect b="0" l="0" r="10112" t="0"/>
          <a:stretch/>
        </p:blipFill>
        <p:spPr>
          <a:xfrm>
            <a:off x="1854137" y="791725"/>
            <a:ext cx="4757576" cy="417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BBC micro:bit 						</a:t>
            </a:r>
            <a:r>
              <a:rPr lang="en" sz="2000"/>
              <a:t>Change to connect to micro:bit</a:t>
            </a:r>
            <a:endParaRPr sz="2000"/>
          </a:p>
        </p:txBody>
      </p:sp>
      <p:pic>
        <p:nvPicPr>
          <p:cNvPr id="124" name="Google Shape;12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8075" y="777025"/>
            <a:ext cx="6924675" cy="2047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" name="Google Shape;125;p28"/>
          <p:cNvCxnSpPr/>
          <p:nvPr/>
        </p:nvCxnSpPr>
        <p:spPr>
          <a:xfrm>
            <a:off x="6536750" y="712350"/>
            <a:ext cx="658200" cy="18156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6" name="Google Shape;12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3300" y="2962625"/>
            <a:ext cx="6809455" cy="201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8"/>
          <p:cNvSpPr/>
          <p:nvPr/>
        </p:nvSpPr>
        <p:spPr>
          <a:xfrm>
            <a:off x="3194525" y="3919909"/>
            <a:ext cx="4938354" cy="278424"/>
          </a:xfrm>
          <a:prstGeom prst="flowChartTerminator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BBC micro:bit 						</a:t>
            </a:r>
            <a:r>
              <a:rPr lang="en" sz="2900"/>
              <a:t>REPL is here &gt;&gt;&gt;</a:t>
            </a:r>
            <a:endParaRPr sz="2900"/>
          </a:p>
        </p:txBody>
      </p:sp>
      <p:pic>
        <p:nvPicPr>
          <p:cNvPr id="133" name="Google Shape;13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500" y="712540"/>
            <a:ext cx="7642408" cy="41262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29"/>
          <p:cNvCxnSpPr/>
          <p:nvPr/>
        </p:nvCxnSpPr>
        <p:spPr>
          <a:xfrm flipH="1">
            <a:off x="2567150" y="712350"/>
            <a:ext cx="3969600" cy="28992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>
            <p:ph type="title"/>
          </p:nvPr>
        </p:nvSpPr>
        <p:spPr>
          <a:xfrm>
            <a:off x="171375" y="132350"/>
            <a:ext cx="8848200" cy="58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BBC micro:bit 						</a:t>
            </a:r>
            <a:r>
              <a:rPr lang="en" sz="2700"/>
              <a:t>Thonny</a:t>
            </a:r>
            <a:r>
              <a:rPr lang="en" sz="3400"/>
              <a:t> </a:t>
            </a:r>
            <a:r>
              <a:rPr lang="en" sz="2700"/>
              <a:t>Python Editor</a:t>
            </a:r>
            <a:endParaRPr sz="2700"/>
          </a:p>
        </p:txBody>
      </p:sp>
      <p:pic>
        <p:nvPicPr>
          <p:cNvPr id="140" name="Google Shape;14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250" y="632415"/>
            <a:ext cx="7642408" cy="41262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1" name="Google Shape;141;p30"/>
          <p:cNvCxnSpPr/>
          <p:nvPr/>
        </p:nvCxnSpPr>
        <p:spPr>
          <a:xfrm flipH="1">
            <a:off x="3512175" y="912450"/>
            <a:ext cx="2031300" cy="283500"/>
          </a:xfrm>
          <a:prstGeom prst="straightConnector1">
            <a:avLst/>
          </a:prstGeom>
          <a:noFill/>
          <a:ln cap="flat" cmpd="sng" w="9525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30"/>
          <p:cNvSpPr txBox="1"/>
          <p:nvPr/>
        </p:nvSpPr>
        <p:spPr>
          <a:xfrm>
            <a:off x="5499750" y="712525"/>
            <a:ext cx="1631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 tabs</a:t>
            </a:r>
            <a:endParaRPr/>
          </a:p>
        </p:txBody>
      </p:sp>
      <p:cxnSp>
        <p:nvCxnSpPr>
          <p:cNvPr id="143" name="Google Shape;143;p30"/>
          <p:cNvCxnSpPr/>
          <p:nvPr/>
        </p:nvCxnSpPr>
        <p:spPr>
          <a:xfrm flipH="1">
            <a:off x="3006201" y="3958535"/>
            <a:ext cx="3362100" cy="469200"/>
          </a:xfrm>
          <a:prstGeom prst="straightConnector1">
            <a:avLst/>
          </a:prstGeom>
          <a:noFill/>
          <a:ln cap="flat" cmpd="sng" w="15775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30"/>
          <p:cNvSpPr txBox="1"/>
          <p:nvPr/>
        </p:nvSpPr>
        <p:spPr>
          <a:xfrm>
            <a:off x="6264654" y="3614800"/>
            <a:ext cx="26997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151325" lIns="151325" spcFirstLastPara="1" rIns="151325" wrap="square" tIns="151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17"/>
              <a:t>REPL</a:t>
            </a:r>
            <a:endParaRPr sz="2317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</a:t>
            </a:r>
            <a:endParaRPr/>
          </a:p>
        </p:txBody>
      </p:sp>
      <p:sp>
        <p:nvSpPr>
          <p:cNvPr id="150" name="Google Shape;150;p31"/>
          <p:cNvSpPr txBox="1"/>
          <p:nvPr>
            <p:ph idx="1" type="body"/>
          </p:nvPr>
        </p:nvSpPr>
        <p:spPr>
          <a:xfrm>
            <a:off x="0" y="7025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Courier New"/>
                <a:ea typeface="Courier New"/>
                <a:cs typeface="Courier New"/>
                <a:sym typeface="Courier New"/>
              </a:rPr>
              <a:t>REPL pronounced “rep-l” stands for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ourier New"/>
                <a:ea typeface="Courier New"/>
                <a:cs typeface="Courier New"/>
                <a:sym typeface="Courier New"/>
              </a:rPr>
              <a:t>EVALUATE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Courier New"/>
                <a:ea typeface="Courier New"/>
                <a:cs typeface="Courier New"/>
                <a:sym typeface="Courier New"/>
              </a:rPr>
              <a:t>LOOP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Courier New"/>
                <a:ea typeface="Courier New"/>
                <a:cs typeface="Courier New"/>
                <a:sym typeface="Courier New"/>
              </a:rPr>
              <a:t>The REPL is used to communicate like a command-line to the Python interpreter.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Courier New"/>
                <a:ea typeface="Courier New"/>
                <a:cs typeface="Courier New"/>
                <a:sym typeface="Courier New"/>
              </a:rPr>
              <a:t>We use it as a short-cut to test code pieces quickly before we start writing a program.</a:t>
            </a:r>
            <a:endParaRPr b="1"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</a:t>
            </a:r>
            <a:endParaRPr/>
          </a:p>
        </p:txBody>
      </p:sp>
      <p:sp>
        <p:nvSpPr>
          <p:cNvPr id="156" name="Google Shape;156;p32"/>
          <p:cNvSpPr txBox="1"/>
          <p:nvPr>
            <p:ph idx="1" type="body"/>
          </p:nvPr>
        </p:nvSpPr>
        <p:spPr>
          <a:xfrm>
            <a:off x="0" y="5244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Explore: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Type 'help(something)' to find out about it. Type 'dir(something)' to see what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it can do. Type 'dir()' to see what stuff is available. For goodness sake,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don't type 'import this'.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Control commands: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CTRL-C        -- stop a running program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CTRL-D        -- on a blank line, do a soft reset of the micro:bit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CTRL-E        -- enter paste mode, turning off auto-indent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For a list of available modules, type help('modules')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For more information about Python, visit: http://python.org/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To find out about MicroPython, visit: http://micropython.org/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Python/micro:bit documentation is here: https://microbit-micropython.readthedocs.io/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&gt;&gt;&gt;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REPL</a:t>
            </a:r>
            <a:endParaRPr/>
          </a:p>
        </p:txBody>
      </p:sp>
      <p:sp>
        <p:nvSpPr>
          <p:cNvPr id="162" name="Google Shape;162;p33"/>
          <p:cNvSpPr txBox="1"/>
          <p:nvPr>
            <p:ph idx="1" type="body"/>
          </p:nvPr>
        </p:nvSpPr>
        <p:spPr>
          <a:xfrm>
            <a:off x="0" y="7025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&gt;&gt;&gt; help()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Welcome to MicroPython on the micro:bit!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Try these commands: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from microbit import *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display.scroll('Hello')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running_time()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sleep(1000)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button_a.is_pressed()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HINT: use the up and down arrow keys to get your command history. 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Press the TAB key to auto-complete unfinished words 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(so 'di' becomes 'display' after you press TAB). 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Basics in the REPL- Variables</a:t>
            </a:r>
            <a:endParaRPr/>
          </a:p>
        </p:txBody>
      </p:sp>
      <p:sp>
        <p:nvSpPr>
          <p:cNvPr id="168" name="Google Shape;168;p34"/>
          <p:cNvSpPr txBox="1"/>
          <p:nvPr>
            <p:ph idx="1" type="body"/>
          </p:nvPr>
        </p:nvSpPr>
        <p:spPr>
          <a:xfrm>
            <a:off x="209500" y="723500"/>
            <a:ext cx="83112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&gt;&gt;&gt; </a:t>
            </a: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i = 1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print(i)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j = 2.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print(j)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2.0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name = “Coco”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&gt;&gt;&gt; print(name)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Coco</a:t>
            </a:r>
            <a:endParaRPr b="1" sz="140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69" name="Google Shape;169;p34"/>
          <p:cNvCxnSpPr/>
          <p:nvPr/>
        </p:nvCxnSpPr>
        <p:spPr>
          <a:xfrm rot="10800000">
            <a:off x="3655850" y="1097575"/>
            <a:ext cx="592500" cy="12900"/>
          </a:xfrm>
          <a:prstGeom prst="straightConnector1">
            <a:avLst/>
          </a:prstGeom>
          <a:noFill/>
          <a:ln cap="flat" cmpd="sng" w="38100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34"/>
          <p:cNvSpPr txBox="1"/>
          <p:nvPr/>
        </p:nvSpPr>
        <p:spPr>
          <a:xfrm>
            <a:off x="4428575" y="876625"/>
            <a:ext cx="3470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In this case, i is an integer. Think of </a:t>
            </a:r>
            <a:r>
              <a:rPr b="1" lang="en">
                <a:solidFill>
                  <a:srgbClr val="134F5C"/>
                </a:solidFill>
              </a:rPr>
              <a:t>integers</a:t>
            </a:r>
            <a:r>
              <a:rPr b="1" lang="en">
                <a:solidFill>
                  <a:srgbClr val="134F5C"/>
                </a:solidFill>
              </a:rPr>
              <a:t> as counting numbers.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171" name="Google Shape;171;p34"/>
          <p:cNvSpPr/>
          <p:nvPr/>
        </p:nvSpPr>
        <p:spPr>
          <a:xfrm>
            <a:off x="2775" y="629575"/>
            <a:ext cx="3558900" cy="948900"/>
          </a:xfrm>
          <a:prstGeom prst="bracePair">
            <a:avLst/>
          </a:prstGeom>
          <a:noFill/>
          <a:ln cap="flat" cmpd="sng" w="28575">
            <a:solidFill>
              <a:srgbClr val="4BA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" name="Google Shape;172;p34"/>
          <p:cNvCxnSpPr/>
          <p:nvPr/>
        </p:nvCxnSpPr>
        <p:spPr>
          <a:xfrm rot="10800000">
            <a:off x="3655838" y="2153725"/>
            <a:ext cx="592500" cy="12900"/>
          </a:xfrm>
          <a:prstGeom prst="straightConnector1">
            <a:avLst/>
          </a:prstGeom>
          <a:noFill/>
          <a:ln cap="flat" cmpd="sng" w="38100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" name="Google Shape;173;p34"/>
          <p:cNvSpPr txBox="1"/>
          <p:nvPr/>
        </p:nvSpPr>
        <p:spPr>
          <a:xfrm>
            <a:off x="4431338" y="1825525"/>
            <a:ext cx="3470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In this case, j is an floating point number. Think of it as a number with a fractional part.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174" name="Google Shape;174;p34"/>
          <p:cNvSpPr/>
          <p:nvPr/>
        </p:nvSpPr>
        <p:spPr>
          <a:xfrm>
            <a:off x="-12" y="1735600"/>
            <a:ext cx="3561600" cy="948900"/>
          </a:xfrm>
          <a:prstGeom prst="bracePair">
            <a:avLst/>
          </a:prstGeom>
          <a:noFill/>
          <a:ln cap="flat" cmpd="sng" w="28575">
            <a:solidFill>
              <a:srgbClr val="4BA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" name="Google Shape;175;p34"/>
          <p:cNvCxnSpPr/>
          <p:nvPr/>
        </p:nvCxnSpPr>
        <p:spPr>
          <a:xfrm rot="10800000">
            <a:off x="3703488" y="3427000"/>
            <a:ext cx="592500" cy="12900"/>
          </a:xfrm>
          <a:prstGeom prst="straightConnector1">
            <a:avLst/>
          </a:prstGeom>
          <a:noFill/>
          <a:ln cap="flat" cmpd="sng" w="38100">
            <a:solidFill>
              <a:srgbClr val="4BA17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p34"/>
          <p:cNvSpPr txBox="1"/>
          <p:nvPr/>
        </p:nvSpPr>
        <p:spPr>
          <a:xfrm>
            <a:off x="4478988" y="3098800"/>
            <a:ext cx="34701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In this case, name is a string of collected characters.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177" name="Google Shape;177;p34"/>
          <p:cNvSpPr/>
          <p:nvPr/>
        </p:nvSpPr>
        <p:spPr>
          <a:xfrm>
            <a:off x="47638" y="3008875"/>
            <a:ext cx="3561600" cy="948900"/>
          </a:xfrm>
          <a:prstGeom prst="bracePair">
            <a:avLst/>
          </a:prstGeom>
          <a:noFill/>
          <a:ln cap="flat" cmpd="sng" w="28575">
            <a:solidFill>
              <a:srgbClr val="4BA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5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Basics in the REPL- Libraries</a:t>
            </a:r>
            <a:endParaRPr/>
          </a:p>
        </p:txBody>
      </p:sp>
      <p:pic>
        <p:nvPicPr>
          <p:cNvPr id="183" name="Google Shape;18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200" y="696600"/>
            <a:ext cx="3301574" cy="330157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5"/>
          <p:cNvSpPr txBox="1"/>
          <p:nvPr/>
        </p:nvSpPr>
        <p:spPr>
          <a:xfrm rot="-1459944">
            <a:off x="6402738" y="2197131"/>
            <a:ext cx="1759824" cy="46160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LED’s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5" name="Google Shape;185;p35"/>
          <p:cNvSpPr txBox="1"/>
          <p:nvPr/>
        </p:nvSpPr>
        <p:spPr>
          <a:xfrm>
            <a:off x="398075" y="1016125"/>
            <a:ext cx="4232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Libraries are collections of programs written by others, that make things easier to duplicate.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A library can hold either one or many routines that we call by name inside them.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When we want to use a library, we need to “check it out” and bring it into our program.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6" name="Google Shape;186;p35"/>
          <p:cNvSpPr txBox="1"/>
          <p:nvPr/>
        </p:nvSpPr>
        <p:spPr>
          <a:xfrm rot="-5400000">
            <a:off x="4924625" y="2401524"/>
            <a:ext cx="13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Buttons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" name="Google Shape;187;p35"/>
          <p:cNvSpPr txBox="1"/>
          <p:nvPr/>
        </p:nvSpPr>
        <p:spPr>
          <a:xfrm rot="-5400000">
            <a:off x="4462925" y="1998724"/>
            <a:ext cx="13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Display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Basics in the REPL- Libraries</a:t>
            </a:r>
            <a:endParaRPr/>
          </a:p>
        </p:txBody>
      </p:sp>
      <p:pic>
        <p:nvPicPr>
          <p:cNvPr id="193" name="Google Shape;19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86050"/>
            <a:ext cx="3301574" cy="330157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6"/>
          <p:cNvSpPr txBox="1"/>
          <p:nvPr/>
        </p:nvSpPr>
        <p:spPr>
          <a:xfrm rot="-5400000">
            <a:off x="5135412" y="2340889"/>
            <a:ext cx="175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microbit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5" name="Google Shape;195;p36"/>
          <p:cNvSpPr txBox="1"/>
          <p:nvPr/>
        </p:nvSpPr>
        <p:spPr>
          <a:xfrm>
            <a:off x="398075" y="1016125"/>
            <a:ext cx="423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from microbit import *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display.scroll(“Hi you!”)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6" name="Google Shape;196;p36"/>
          <p:cNvSpPr txBox="1"/>
          <p:nvPr/>
        </p:nvSpPr>
        <p:spPr>
          <a:xfrm rot="-5400000">
            <a:off x="4856721" y="2277530"/>
            <a:ext cx="13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speach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7" name="Google Shape;197;p36"/>
          <p:cNvSpPr txBox="1"/>
          <p:nvPr/>
        </p:nvSpPr>
        <p:spPr>
          <a:xfrm rot="-5400000">
            <a:off x="4462925" y="1998724"/>
            <a:ext cx="137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music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8" name="Google Shape;198;p36"/>
          <p:cNvSpPr txBox="1"/>
          <p:nvPr/>
        </p:nvSpPr>
        <p:spPr>
          <a:xfrm rot="-586">
            <a:off x="6317524" y="2402638"/>
            <a:ext cx="175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display</a:t>
            </a:r>
            <a:endParaRPr b="1" sz="18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9" name="Google Shape;199;p36"/>
          <p:cNvSpPr txBox="1"/>
          <p:nvPr/>
        </p:nvSpPr>
        <p:spPr>
          <a:xfrm>
            <a:off x="398075" y="2051175"/>
            <a:ext cx="423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import microbit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microbit.display.scroll(“Hi you!”)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0" name="Google Shape;200;p36"/>
          <p:cNvSpPr txBox="1"/>
          <p:nvPr/>
        </p:nvSpPr>
        <p:spPr>
          <a:xfrm>
            <a:off x="398075" y="3086225"/>
            <a:ext cx="423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from microbit import display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microbit.display.scroll(“Hi you!”)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F5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5" y="0"/>
            <a:ext cx="8122800" cy="7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Images - import microbit, dir(Image)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07" name="Google Shape;207;p37"/>
          <p:cNvSpPr txBox="1"/>
          <p:nvPr/>
        </p:nvSpPr>
        <p:spPr>
          <a:xfrm>
            <a:off x="0" y="100770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7"/>
          <p:cNvSpPr txBox="1"/>
          <p:nvPr/>
        </p:nvSpPr>
        <p:spPr>
          <a:xfrm>
            <a:off x="0" y="834675"/>
            <a:ext cx="30000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'ALL_ARROWS', 'ALL_CLOCKS', 'ANGRY', 'ARROW_E', 'ARROW_N', 'ARROW_NE', 'ARROW_NW', 'ARROW_S', 'ARROW_SE', 'ARROW_SW', 'ARROW_W', 'ASLEEP', 'BUTTERFLY', 'CHESSBOARD', 'CLOCK1', 'CLOCK10', 'CLOCK11', 'CLOCK12', '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209" name="Google Shape;209;p37"/>
          <p:cNvSpPr txBox="1"/>
          <p:nvPr/>
        </p:nvSpPr>
        <p:spPr>
          <a:xfrm>
            <a:off x="3073500" y="893575"/>
            <a:ext cx="2464800" cy="57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CLOCK2', 'CLOCK3', 'CLOCK4', CLOCK5', 'CLOCK6', CLOCK7', 'CLOCK8', CLOCK9', 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'CONFUSED', 'COW', 'DIAMOND', 'DIAMOND_SMALL', 'DUCK', 'FABULOUS', 'GHOST', 'GIRAFFE', 'HAPPY', 'HEART', 'HEART_SMALL', 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210" name="Google Shape;210;p37"/>
          <p:cNvSpPr txBox="1"/>
          <p:nvPr/>
        </p:nvSpPr>
        <p:spPr>
          <a:xfrm>
            <a:off x="5764150" y="607850"/>
            <a:ext cx="35370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'HOUSE', 'MEH', 'MUSIC_CROTCHET', 'MUSIC_QUAVER', 'MUSIC_QUAVERS', 'NO', 'PACMAN', 'PITCHFORK', 'RABBIT', 'ROLLERSKATE', 'SAD', 'SCISSORS', 'SILLY', 'SKULL', 'SMILE', 'SNAKE', 'SQUARE',‘SQUARE_SMALL''STICKFIGURE', 'SURPRISED', 'SWORD', 'TARGET', 'TORTOISE', 'TRIANGLE', 'TRIANGLE_LEFT', 'TSHIRT', 'UMBRELLA', 'XMAS', 'YES',</a:t>
            </a:r>
            <a:endParaRPr b="1"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F5C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8"/>
          <p:cNvSpPr txBox="1"/>
          <p:nvPr>
            <p:ph type="title"/>
          </p:nvPr>
        </p:nvSpPr>
        <p:spPr>
          <a:xfrm>
            <a:off x="5" y="0"/>
            <a:ext cx="8122800" cy="7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Music - import music, dir(music)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217" name="Google Shape;217;p38"/>
          <p:cNvSpPr txBox="1"/>
          <p:nvPr/>
        </p:nvSpPr>
        <p:spPr>
          <a:xfrm>
            <a:off x="0" y="100770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8"/>
          <p:cNvSpPr txBox="1"/>
          <p:nvPr/>
        </p:nvSpPr>
        <p:spPr>
          <a:xfrm>
            <a:off x="2670925" y="932875"/>
            <a:ext cx="3000000" cy="3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</a:rPr>
              <a:t>'BADDY', 'BA_DING', 'BIRTHDAY', 'BLUES', 'CHASE', 'DADADADUM', 'ENTERTAINER', 'FUNERAL', 'FUNK', 'JUMP_DOWN', 'JUMP_UP', 'NYAN', 'ODE', 'POWER_DOWN', 'POWER_UP', 'PRELUDE', 'PUNCHLINE', 'PYTHON', 'RINGTONE', 'WAWAWAWAA', 'WEDDING', 'get_tempo</a:t>
            </a:r>
            <a:endParaRPr b="1" sz="1700">
              <a:solidFill>
                <a:srgbClr val="FFFFFF"/>
              </a:solidFill>
            </a:endParaRPr>
          </a:p>
        </p:txBody>
      </p:sp>
      <p:sp>
        <p:nvSpPr>
          <p:cNvPr id="219" name="Google Shape;219;p38"/>
          <p:cNvSpPr txBox="1"/>
          <p:nvPr/>
        </p:nvSpPr>
        <p:spPr>
          <a:xfrm>
            <a:off x="3073500" y="893575"/>
            <a:ext cx="2464800" cy="57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220" name="Google Shape;220;p38"/>
          <p:cNvSpPr txBox="1"/>
          <p:nvPr/>
        </p:nvSpPr>
        <p:spPr>
          <a:xfrm>
            <a:off x="5764150" y="607850"/>
            <a:ext cx="35370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Happening?</a:t>
            </a:r>
            <a:endParaRPr/>
          </a:p>
        </p:txBody>
      </p:sp>
      <p:sp>
        <p:nvSpPr>
          <p:cNvPr id="226" name="Google Shape;226;p39"/>
          <p:cNvSpPr txBox="1"/>
          <p:nvPr/>
        </p:nvSpPr>
        <p:spPr>
          <a:xfrm>
            <a:off x="398075" y="1016125"/>
            <a:ext cx="423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from microbit import *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display.scroll(“Hi you!”)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7" name="Google Shape;227;p39"/>
          <p:cNvSpPr txBox="1"/>
          <p:nvPr/>
        </p:nvSpPr>
        <p:spPr>
          <a:xfrm>
            <a:off x="398075" y="2051175"/>
            <a:ext cx="423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import microbit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microbit.display.scroll(“Hi you!”)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8" name="Google Shape;228;p39"/>
          <p:cNvSpPr txBox="1"/>
          <p:nvPr/>
        </p:nvSpPr>
        <p:spPr>
          <a:xfrm>
            <a:off x="398075" y="3086225"/>
            <a:ext cx="4232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Find out what’s inside of a library.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dir()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import music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&gt;&gt;&gt; dir(music)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9" name="Google Shape;229;p39"/>
          <p:cNvSpPr/>
          <p:nvPr/>
        </p:nvSpPr>
        <p:spPr>
          <a:xfrm>
            <a:off x="5048450" y="809925"/>
            <a:ext cx="2714400" cy="3221400"/>
          </a:xfrm>
          <a:prstGeom prst="bevel">
            <a:avLst>
              <a:gd fmla="val 2335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9"/>
          <p:cNvSpPr/>
          <p:nvPr/>
        </p:nvSpPr>
        <p:spPr>
          <a:xfrm>
            <a:off x="5312475" y="1755025"/>
            <a:ext cx="802800" cy="86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CPU</a:t>
            </a:r>
            <a:endParaRPr/>
          </a:p>
        </p:txBody>
      </p:sp>
      <p:sp>
        <p:nvSpPr>
          <p:cNvPr id="231" name="Google Shape;231;p39"/>
          <p:cNvSpPr/>
          <p:nvPr/>
        </p:nvSpPr>
        <p:spPr>
          <a:xfrm>
            <a:off x="6263025" y="1016125"/>
            <a:ext cx="1293000" cy="1413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STORAGE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(random)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(microbit)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(music)</a:t>
            </a:r>
            <a:endParaRPr/>
          </a:p>
        </p:txBody>
      </p:sp>
      <p:sp>
        <p:nvSpPr>
          <p:cNvPr id="232" name="Google Shape;232;p39"/>
          <p:cNvSpPr/>
          <p:nvPr/>
        </p:nvSpPr>
        <p:spPr>
          <a:xfrm>
            <a:off x="5312475" y="2862200"/>
            <a:ext cx="802800" cy="79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</a:t>
            </a:r>
            <a:endParaRPr/>
          </a:p>
        </p:txBody>
      </p:sp>
      <p:cxnSp>
        <p:nvCxnSpPr>
          <p:cNvPr id="233" name="Google Shape;233;p39"/>
          <p:cNvCxnSpPr/>
          <p:nvPr/>
        </p:nvCxnSpPr>
        <p:spPr>
          <a:xfrm flipH="1">
            <a:off x="6005575" y="2313000"/>
            <a:ext cx="658800" cy="966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Anatomy of micro:bit python program</a:t>
            </a:r>
            <a:endParaRPr/>
          </a:p>
        </p:txBody>
      </p:sp>
      <p:sp>
        <p:nvSpPr>
          <p:cNvPr id="239" name="Google Shape;239;p40"/>
          <p:cNvSpPr txBox="1"/>
          <p:nvPr>
            <p:ph idx="1" type="body"/>
          </p:nvPr>
        </p:nvSpPr>
        <p:spPr>
          <a:xfrm>
            <a:off x="0" y="702541"/>
            <a:ext cx="8520600" cy="62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 For-Loop 1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 s.case 10/26/20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 Bring in the libraries that you need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from microbit import *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# Execute loop 5 times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for i in range(5):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display.show(Image.HAPPY)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sleep(500)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display.clear()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Courier New"/>
                <a:ea typeface="Courier New"/>
                <a:cs typeface="Courier New"/>
                <a:sym typeface="Courier New"/>
              </a:rPr>
              <a:t>    sleep(500)</a:t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40" name="Google Shape;240;p40"/>
          <p:cNvCxnSpPr/>
          <p:nvPr/>
        </p:nvCxnSpPr>
        <p:spPr>
          <a:xfrm rot="10800000">
            <a:off x="6568050" y="1146900"/>
            <a:ext cx="592500" cy="1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40"/>
          <p:cNvSpPr/>
          <p:nvPr/>
        </p:nvSpPr>
        <p:spPr>
          <a:xfrm>
            <a:off x="0" y="735850"/>
            <a:ext cx="6391500" cy="948900"/>
          </a:xfrm>
          <a:prstGeom prst="brace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0"/>
          <p:cNvSpPr txBox="1"/>
          <p:nvPr/>
        </p:nvSpPr>
        <p:spPr>
          <a:xfrm>
            <a:off x="7215075" y="976800"/>
            <a:ext cx="14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Comments 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243" name="Google Shape;243;p40"/>
          <p:cNvSpPr/>
          <p:nvPr/>
        </p:nvSpPr>
        <p:spPr>
          <a:xfrm>
            <a:off x="62850" y="2000000"/>
            <a:ext cx="6492600" cy="790500"/>
          </a:xfrm>
          <a:prstGeom prst="brace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" name="Google Shape;244;p40"/>
          <p:cNvCxnSpPr/>
          <p:nvPr/>
        </p:nvCxnSpPr>
        <p:spPr>
          <a:xfrm rot="10800000">
            <a:off x="6839100" y="2465388"/>
            <a:ext cx="592500" cy="1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40"/>
          <p:cNvSpPr txBox="1"/>
          <p:nvPr/>
        </p:nvSpPr>
        <p:spPr>
          <a:xfrm>
            <a:off x="7507250" y="2295288"/>
            <a:ext cx="14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Libraries</a:t>
            </a:r>
            <a:endParaRPr b="1">
              <a:solidFill>
                <a:srgbClr val="134F5C"/>
              </a:solidFill>
            </a:endParaRPr>
          </a:p>
        </p:txBody>
      </p:sp>
      <p:sp>
        <p:nvSpPr>
          <p:cNvPr id="246" name="Google Shape;246;p40"/>
          <p:cNvSpPr/>
          <p:nvPr/>
        </p:nvSpPr>
        <p:spPr>
          <a:xfrm>
            <a:off x="0" y="2870300"/>
            <a:ext cx="6732000" cy="1874400"/>
          </a:xfrm>
          <a:prstGeom prst="brace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p40"/>
          <p:cNvCxnSpPr/>
          <p:nvPr/>
        </p:nvCxnSpPr>
        <p:spPr>
          <a:xfrm rot="10800000">
            <a:off x="6845400" y="3556825"/>
            <a:ext cx="592500" cy="1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8" name="Google Shape;248;p40"/>
          <p:cNvSpPr txBox="1"/>
          <p:nvPr/>
        </p:nvSpPr>
        <p:spPr>
          <a:xfrm>
            <a:off x="7551400" y="3386725"/>
            <a:ext cx="14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Running program</a:t>
            </a:r>
            <a:endParaRPr b="1">
              <a:solidFill>
                <a:srgbClr val="134F5C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500" y="850481"/>
            <a:ext cx="7386925" cy="3988319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4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Thonny</a:t>
            </a:r>
            <a:r>
              <a:rPr lang="en"/>
              <a:t> Editor for Python</a:t>
            </a:r>
            <a:endParaRPr/>
          </a:p>
        </p:txBody>
      </p:sp>
      <p:cxnSp>
        <p:nvCxnSpPr>
          <p:cNvPr id="255" name="Google Shape;255;p41"/>
          <p:cNvCxnSpPr/>
          <p:nvPr/>
        </p:nvCxnSpPr>
        <p:spPr>
          <a:xfrm rot="10800000">
            <a:off x="3497200" y="1359375"/>
            <a:ext cx="4307100" cy="274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41"/>
          <p:cNvSpPr txBox="1"/>
          <p:nvPr/>
        </p:nvSpPr>
        <p:spPr>
          <a:xfrm>
            <a:off x="7927425" y="1437700"/>
            <a:ext cx="1059900" cy="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Programs on tabs</a:t>
            </a:r>
            <a:r>
              <a:rPr b="1" lang="en">
                <a:solidFill>
                  <a:srgbClr val="134F5C"/>
                </a:solidFill>
              </a:rPr>
              <a:t> </a:t>
            </a:r>
            <a:endParaRPr b="1">
              <a:solidFill>
                <a:srgbClr val="134F5C"/>
              </a:solidFill>
            </a:endParaRPr>
          </a:p>
        </p:txBody>
      </p:sp>
      <p:cxnSp>
        <p:nvCxnSpPr>
          <p:cNvPr id="257" name="Google Shape;257;p41"/>
          <p:cNvCxnSpPr/>
          <p:nvPr/>
        </p:nvCxnSpPr>
        <p:spPr>
          <a:xfrm flipH="1">
            <a:off x="2331875" y="353175"/>
            <a:ext cx="5163900" cy="56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41"/>
          <p:cNvSpPr txBox="1"/>
          <p:nvPr/>
        </p:nvSpPr>
        <p:spPr>
          <a:xfrm>
            <a:off x="7550300" y="170175"/>
            <a:ext cx="14370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Controls</a:t>
            </a:r>
            <a:r>
              <a:rPr b="1" lang="en">
                <a:solidFill>
                  <a:srgbClr val="134F5C"/>
                </a:solidFill>
              </a:rPr>
              <a:t> </a:t>
            </a:r>
            <a:endParaRPr b="1">
              <a:solidFill>
                <a:srgbClr val="134F5C"/>
              </a:solidFill>
            </a:endParaRPr>
          </a:p>
        </p:txBody>
      </p:sp>
      <p:cxnSp>
        <p:nvCxnSpPr>
          <p:cNvPr id="259" name="Google Shape;259;p41"/>
          <p:cNvCxnSpPr/>
          <p:nvPr/>
        </p:nvCxnSpPr>
        <p:spPr>
          <a:xfrm rot="10800000">
            <a:off x="6163675" y="2902375"/>
            <a:ext cx="592500" cy="12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0" name="Google Shape;260;p41"/>
          <p:cNvSpPr txBox="1"/>
          <p:nvPr/>
        </p:nvSpPr>
        <p:spPr>
          <a:xfrm>
            <a:off x="6870325" y="2799525"/>
            <a:ext cx="2117100" cy="3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34F5C"/>
                </a:solidFill>
              </a:rPr>
              <a:t>Editing area </a:t>
            </a:r>
            <a:endParaRPr b="1">
              <a:solidFill>
                <a:srgbClr val="134F5C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48600" y="21888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</a:pPr>
            <a:r>
              <a:rPr b="0" lang="en" sz="28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Reference </a:t>
            </a:r>
            <a:r>
              <a:rPr lang="en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  <a:r>
              <a:rPr b="0" lang="en" sz="2800" u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aterial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2"/>
          <p:cNvSpPr txBox="1"/>
          <p:nvPr>
            <p:ph idx="1" type="body"/>
          </p:nvPr>
        </p:nvSpPr>
        <p:spPr>
          <a:xfrm>
            <a:off x="145800" y="933480"/>
            <a:ext cx="8520000" cy="6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BBC </a:t>
            </a:r>
            <a:r>
              <a:rPr b="1" lang="en" sz="140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i="0" lang="en" sz="14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icro:bit</a:t>
            </a:r>
            <a:r>
              <a:rPr b="1" lang="en" sz="140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" sz="14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www.microbit.org</a:t>
            </a:r>
            <a:endParaRPr sz="1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ourier New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ourier New"/>
              <a:buNone/>
            </a:pPr>
            <a:r>
              <a:rPr b="1" lang="en" sz="140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IEEE Course Material &amp; Programs</a:t>
            </a:r>
            <a:endParaRPr b="1" sz="1400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ourier New"/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https://github.com/IEEE-BV/microbit</a:t>
            </a:r>
            <a:endParaRPr b="1" sz="1400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ourier New"/>
              <a:buNone/>
            </a:pPr>
            <a:r>
              <a:rPr b="1" lang="en" sz="140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Thonny</a:t>
            </a:r>
            <a:r>
              <a:rPr b="1" i="0" lang="en" sz="14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-Editor Installation: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Courier New"/>
              <a:buNone/>
            </a:pPr>
            <a:r>
              <a:rPr b="1" lang="en" sz="14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5"/>
              </a:rPr>
              <a:t>https://thonny.org/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Python:</a:t>
            </a:r>
            <a:endParaRPr b="1" i="0" sz="1400" u="none" cap="none" strike="noStrike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ourier New"/>
              <a:buNone/>
            </a:pPr>
            <a:r>
              <a:rPr b="1" lang="en" sz="140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Micro Python documentation for micro:bit</a:t>
            </a:r>
            <a:endParaRPr b="1" sz="1400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ourier New"/>
              <a:buNone/>
            </a:pPr>
            <a:r>
              <a:rPr b="1" lang="en" sz="1400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https://microbit-micropython.readthedocs.io/en/v2-docs/#</a:t>
            </a:r>
            <a:endParaRPr b="1" sz="1400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ourier New"/>
              <a:buNone/>
            </a:pPr>
            <a:r>
              <a:t/>
            </a:r>
            <a:endParaRPr b="1" sz="1400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Courier New"/>
              <a:buNone/>
            </a:pPr>
            <a:r>
              <a:rPr b="1" lang="en" sz="140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Other References:</a:t>
            </a:r>
            <a:endParaRPr b="1" sz="1400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Courier New"/>
              <a:buNone/>
            </a:pPr>
            <a:r>
              <a:rPr b="1" i="0" lang="en" sz="14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7"/>
              </a:rPr>
              <a:t>https://www.w3schools.com/python/default.asp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Courier New"/>
              <a:buNone/>
            </a:pPr>
            <a:r>
              <a:rPr b="1" i="0" lang="en" sz="14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8"/>
              </a:rPr>
              <a:t>https://www.python.org/</a:t>
            </a:r>
            <a:r>
              <a:rPr b="1" i="0" lang="en" sz="14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	(advanced full reference for Python)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Courier New"/>
              <a:buNone/>
            </a:pPr>
            <a:r>
              <a:rPr b="1" i="0" lang="en" sz="14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9"/>
              </a:rPr>
              <a:t>https://wiki.python.org/moin/BeginnersGuide</a:t>
            </a:r>
            <a:r>
              <a:rPr b="1" i="0" lang="en" sz="14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  (still pretty advanced)</a:t>
            </a:r>
            <a:endParaRPr b="1" i="0" sz="1400" u="none" cap="none" strike="noStrike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Courier New"/>
              <a:buNone/>
            </a:pPr>
            <a:r>
              <a:t/>
            </a:r>
            <a:endParaRPr b="1" sz="1400">
              <a:solidFill>
                <a:schemeClr val="accent3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ourier New"/>
              <a:buNone/>
            </a:pPr>
            <a:r>
              <a:rPr b="1" i="0" lang="en" sz="1400" u="none" cap="none" strike="noStrike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42"/>
          <p:cNvSpPr txBox="1"/>
          <p:nvPr/>
        </p:nvSpPr>
        <p:spPr>
          <a:xfrm>
            <a:off x="4492625" y="2139975"/>
            <a:ext cx="60009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ourier New"/>
              <a:buNone/>
            </a:pPr>
            <a:r>
              <a:rPr b="1" lang="en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Adafruit Industries: </a:t>
            </a:r>
            <a:r>
              <a:rPr b="1" lang="en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www.adafruit.com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Courier New"/>
              <a:buNone/>
            </a:pPr>
            <a:r>
              <a:rPr b="1" lang="en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Sparkfun electronics: </a:t>
            </a:r>
            <a:r>
              <a:rPr b="1" lang="en" u="sng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www.sparkfun.com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